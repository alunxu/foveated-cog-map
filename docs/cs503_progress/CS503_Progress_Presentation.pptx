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1">
                <a:solidFill>
                  <a:srgbClr val="B03229"/>
                </a:solidFill>
                <a:latin typeface="Helvetica"/>
              </a:rPr>
              <a:t>CS-503 VISUAL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Times New Roman"/>
              </a:rPr>
              <a:t>Progress Report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4241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14294A"/>
                </a:solidFill>
                <a:latin typeface="Times New Roman"/>
              </a:rPr>
              <a:t>Sensor Structure Shapes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4241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14294A"/>
                </a:solidFill>
                <a:latin typeface="Times New Roman"/>
              </a:rPr>
              <a:t>the Format of Cognitive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4241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14294A"/>
                </a:solidFill>
                <a:latin typeface="Times New Roman"/>
              </a:rPr>
              <a:t>in Navigation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83480"/>
            <a:ext cx="54864" cy="22860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Léo Bruneau    ·    Weilun Xu    ·    Rim Abkari    ·    Zyad Aoutir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97880"/>
            <a:ext cx="10424160" cy="36576"/>
          </a:xfrm>
          <a:prstGeom prst="rect">
            <a:avLst/>
          </a:prstGeom>
          <a:solidFill>
            <a:srgbClr val="D5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1">
                <a:solidFill>
                  <a:srgbClr val="4A5F82"/>
                </a:solidFill>
                <a:latin typeface="Times New Roman"/>
              </a:rPr>
              <a:t>Does visual-input structure shape the format of the cognitive map?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Different sensor ecologies, different cognitive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_b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338328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886200"/>
            <a:ext cx="3383280" cy="841248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86200"/>
            <a:ext cx="338328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F3A68"/>
                </a:solidFill>
                <a:latin typeface="Times New Roman"/>
              </a:rPr>
              <a:t>Echolocating bat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Times New Roman"/>
              </a:rPr>
              <a:t>no eyes  ·  sonar map</a:t>
            </a:r>
          </a:p>
        </p:txBody>
      </p:sp>
      <p:pic>
        <p:nvPicPr>
          <p:cNvPr id="12" name="Picture 11" descr="photo_mo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3383280" cy="24688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97680" y="3886200"/>
            <a:ext cx="3383280" cy="841248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886200"/>
            <a:ext cx="338328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977639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F3A68"/>
                </a:solidFill>
                <a:latin typeface="Times New Roman"/>
              </a:rPr>
              <a:t>Blind rodent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4340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Times New Roman"/>
              </a:rPr>
              <a:t>tactile  ·  path integration</a:t>
            </a:r>
          </a:p>
        </p:txBody>
      </p:sp>
      <p:pic>
        <p:nvPicPr>
          <p:cNvPr id="17" name="Picture 16" descr="photo_ey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17320"/>
            <a:ext cx="3383280" cy="24688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046720" y="3886200"/>
            <a:ext cx="3383280" cy="841248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886200"/>
            <a:ext cx="338328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977639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F3A68"/>
                </a:solidFill>
                <a:latin typeface="Times New Roman"/>
              </a:rPr>
              <a:t>Foveated primate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34340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Times New Roman"/>
              </a:rPr>
              <a:t>fovea + blurred periphery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 i="1">
                <a:solidFill>
                  <a:srgbClr val="4A5F82"/>
                </a:solidFill>
                <a:latin typeface="Times New Roman"/>
              </a:rPr>
              <a:t>→ qualitatively different hippocampal coding strategies, not just different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40679"/>
            <a:ext cx="11064240" cy="594360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13831"/>
            <a:ext cx="11064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Times New Roman"/>
              </a:rPr>
              <a:t>Does varying only the visual sensor change the cognitive map's format in deep-RL agents?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Motivation    ·    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5 conditions on one bandwidth axis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pipelin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9144000" cy="51466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58400" y="1325880"/>
            <a:ext cx="1783080" cy="5029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1325880"/>
            <a:ext cx="1783080" cy="4572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1444752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Times New Roman"/>
              </a:rPr>
              <a:t>Three lenses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1755648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on the frozen ℎ₂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5560" y="2194560"/>
            <a:ext cx="45720" cy="50292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2194560"/>
            <a:ext cx="14173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3A68"/>
                </a:solidFill>
                <a:latin typeface="Times New Roman"/>
              </a:rPr>
              <a:t>Decodability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2468879"/>
            <a:ext cx="1417319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what does ℎ₂ encode?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3520439"/>
            <a:ext cx="45720" cy="50292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14432" y="3520439"/>
            <a:ext cx="14173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3A68"/>
                </a:solidFill>
                <a:latin typeface="Times New Roman"/>
              </a:rPr>
              <a:t>Intrinsic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3794759"/>
            <a:ext cx="1417319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do conditions share a code?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0" y="4846320"/>
            <a:ext cx="45720" cy="50292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14432" y="4846320"/>
            <a:ext cx="14173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3A68"/>
                </a:solidFill>
                <a:latin typeface="Times New Roman"/>
              </a:rPr>
              <a:t>Causal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4432" y="5120640"/>
            <a:ext cx="1417319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does the policy rely on ℎ₂?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i="1">
                <a:solidFill>
                  <a:srgbClr val="4A5F82"/>
                </a:solidFill>
                <a:latin typeface="Times New Roman"/>
              </a:rPr>
              <a:t>Same architecture, training, sensors. All conditions reach 96–99 % success — no skill gap.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Setup    ·    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WHAT CHANGED SINCE 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Project rescope: from foveation to encoder bandwidth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532120" cy="493776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493776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257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B03229"/>
                </a:solidFill>
                <a:latin typeface="Times New Roman"/>
              </a:rPr>
              <a:t>H1 reframed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257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4A5F82"/>
                </a:solidFill>
                <a:latin typeface="Times New Roman"/>
              </a:rPr>
              <a:t>Encoder bandwidth, not foveation.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5257800" cy="3657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Unified-hyperparameter training removes apparent </a:t>
            </a:r>
            <a:r>
              <a:rPr sz="1500" b="1" i="0">
                <a:solidFill>
                  <a:srgbClr val="1F3A68"/>
                </a:solidFill>
                <a:latin typeface="Times New Roman"/>
              </a:rPr>
              <a:t>foveated specialness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.  Foveated-logpolar (2×2) control lands where the </a:t>
            </a:r>
            <a:r>
              <a:rPr sz="1500" b="1" i="0">
                <a:solidFill>
                  <a:srgbClr val="1F3A68"/>
                </a:solidFill>
                <a:latin typeface="Times New Roman"/>
              </a:rPr>
              <a:t>encoder-bandwidth account predicts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532120" cy="4937760"/>
          </a:xfrm>
          <a:prstGeom prst="rect">
            <a:avLst/>
          </a:prstGeom>
          <a:solidFill>
            <a:srgbClr val="F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73152" cy="493776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257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B03229"/>
                </a:solidFill>
                <a:latin typeface="Times New Roman"/>
              </a:rPr>
              <a:t>H3 de-scoped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57400"/>
            <a:ext cx="5257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4A5F82"/>
                </a:solidFill>
                <a:latin typeface="Times New Roman"/>
              </a:rPr>
              <a:t>Cog-neuro toolkit imported instead.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5257800" cy="3657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Learned-gaze MLP collapsed under navigation reward.  Redirected to </a:t>
            </a:r>
            <a:r>
              <a:rPr sz="1500" b="1" i="0">
                <a:solidFill>
                  <a:srgbClr val="1F3A68"/>
                </a:solidFill>
                <a:latin typeface="Times New Roman"/>
              </a:rPr>
              <a:t>Skaggs · SR predictive horizon · Procrustes · subspace divergence · excursion-forgetting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Rescope    ·   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FINDING 1 / 3   ·   MAGNITUDE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Encoder bandwidth shapes the linear axis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fig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45317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E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54864" cy="8686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Times New Roman"/>
              </a:rPr>
              <a:t>Linear GPS R² falls monotonically with encoder bandwidth — yet MLP recovers GPS in every condition.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i="1">
                <a:solidFill>
                  <a:srgbClr val="4A5F82"/>
                </a:solidFill>
                <a:latin typeface="Times New Roman"/>
              </a:rPr>
              <a:t>Position is retained, just not as the linearly-readable axis. Format differs.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Magnitude    ·   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FINDING 2 / 3   ·   TRAINING-TIME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Allocation emerges across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fig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37642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E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54864" cy="8686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Times New Roman"/>
              </a:rPr>
              <a:t>All conditions start with a high linear GPS code; rich-encoder ones decay as the visual route consolidates.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i="1">
                <a:solidFill>
                  <a:srgbClr val="4A5F82"/>
                </a:solidFill>
                <a:latin typeface="Times New Roman"/>
              </a:rPr>
              <a:t>Decay rate ordered by encoder informativeness — capacity allocation is a training-time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Training-time    ·    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FINDING 3 / 3   ·   FORMAT GENERALISES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Bottleneck integrates; rich encoder reacts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fig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37305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E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54864" cy="8686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Times New Roman"/>
              </a:rPr>
              <a:t>Bottleneck stable past-position decoding across lags; rich-encoder degrades — generalises GPS → compass.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i="1">
                <a:solidFill>
                  <a:srgbClr val="4A5F82"/>
                </a:solidFill>
                <a:latin typeface="Times New Roman"/>
              </a:rPr>
              <a:t>It is about format, not GPS specifically.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Format generalises    ·    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Three regimes of cognitive-map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sy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680960" cy="53418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03920" y="1371600"/>
            <a:ext cx="3200400" cy="5029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371600"/>
            <a:ext cx="3200400" cy="4572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2834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Times New Roman"/>
              </a:rPr>
              <a:t>Three regimes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011680"/>
            <a:ext cx="45720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201168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3A68"/>
                </a:solidFill>
                <a:latin typeface="Times New Roman"/>
              </a:rPr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28600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Linear GPS code · format-shared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926080"/>
            <a:ext cx="45720" cy="64008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92608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B03229"/>
                </a:solidFill>
                <a:latin typeface="Times New Roman"/>
              </a:rPr>
              <a:t>Rich-encoder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20040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No linear code · format-isolated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3840480"/>
            <a:ext cx="45720" cy="640080"/>
          </a:xfrm>
          <a:prstGeom prst="rect">
            <a:avLst/>
          </a:prstGeom>
          <a:solidFill>
            <a:srgbClr val="4A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384048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4A5F82"/>
                </a:solidFill>
                <a:latin typeface="Times New Roman"/>
              </a:rPr>
              <a:t>No-vision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411480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Linear code · format-isolated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93776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03229"/>
                </a:solidFill>
                <a:latin typeface="Times New Roman"/>
              </a:rPr>
              <a:t>Long-term scientific bet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283464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4A5F82"/>
                </a:solidFill>
                <a:latin typeface="Times New Roman"/>
              </a:rPr>
              <a:t>Does the bandwidth principle predict how real hippocampal circuits differ across species' sensor ecologies?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Synthesis    ·    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03229"/>
                </a:solidFill>
                <a:latin typeface="Helvetica"/>
              </a:rPr>
              <a:t>WHAT'S NEXT  ·  WHAT IT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F3A68"/>
                </a:solidFill>
                <a:latin typeface="Times New Roman"/>
              </a:rPr>
              <a:t>Open issues  · 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280160" cy="41148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532120" cy="493776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4937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257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F3A68"/>
                </a:solidFill>
                <a:latin typeface="Times New Roman"/>
              </a:rPr>
              <a:t>Toward the final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257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Times New Roman"/>
              </a:rPr>
              <a:t>Three batches of pending work.</a:t>
            </a:r>
          </a:p>
        </p:txBody>
      </p:sp>
      <p:pic>
        <p:nvPicPr>
          <p:cNvPr id="11" name="Picture 10" descr="icon_action_1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79192"/>
            <a:ext cx="960120" cy="960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956816" y="2679192"/>
            <a:ext cx="36576" cy="96012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6544" y="2679192"/>
            <a:ext cx="335584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Times New Roman"/>
              </a:rPr>
              <a:t>Bandwidth refinements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4" y="3017520"/>
            <a:ext cx="3355847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blind cross-training  ·  coarse transplant  ·  two-seed validation</a:t>
            </a:r>
          </a:p>
        </p:txBody>
      </p:sp>
      <p:pic>
        <p:nvPicPr>
          <p:cNvPr id="15" name="Picture 14" descr="icon_action_2_cogne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22776"/>
            <a:ext cx="960120" cy="9601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956816" y="3922776"/>
            <a:ext cx="36576" cy="96012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6544" y="3922776"/>
            <a:ext cx="335584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Times New Roman"/>
              </a:rPr>
              <a:t>Cog-neuro on ℎ₂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4261104"/>
            <a:ext cx="3355847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occupancy decoder  ·  MINE-PH · SR eigenbasis  ·  Sussillo–Barak fixed-points</a:t>
            </a:r>
          </a:p>
        </p:txBody>
      </p:sp>
      <p:pic>
        <p:nvPicPr>
          <p:cNvPr id="19" name="Picture 18" descr="icon_action_3_sc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66360"/>
            <a:ext cx="960120" cy="9601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956816" y="5166360"/>
            <a:ext cx="36576" cy="96012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66544" y="5166360"/>
            <a:ext cx="335584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Times New Roman"/>
              </a:rPr>
              <a:t>Scope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4" y="5504688"/>
            <a:ext cx="3355847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foveation strength sweep  ·  transformer falsification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17320"/>
            <a:ext cx="5532120" cy="4937760"/>
          </a:xfrm>
          <a:prstGeom prst="rect">
            <a:avLst/>
          </a:prstGeom>
          <a:solidFill>
            <a:srgbClr val="F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73152" cy="4937760"/>
          </a:xfrm>
          <a:prstGeom prst="rect">
            <a:avLst/>
          </a:prstGeom>
          <a:solidFill>
            <a:srgbClr val="B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600200"/>
            <a:ext cx="5257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B03229"/>
                </a:solidFill>
                <a:latin typeface="Times New Roman"/>
              </a:rPr>
              <a:t>Implications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057400"/>
            <a:ext cx="5257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Times New Roman"/>
              </a:rPr>
              <a:t>If the principle survives the remaining tests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697480"/>
            <a:ext cx="54864" cy="7772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697480"/>
            <a:ext cx="5074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B03229"/>
                </a:solidFill>
                <a:latin typeface="Times New Roman"/>
              </a:rPr>
              <a:t>Encoder bandwidth as design lever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017520"/>
            <a:ext cx="5074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restricting the encoder may recruit integration-style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3840480"/>
            <a:ext cx="54864" cy="7772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5074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B03229"/>
                </a:solidFill>
                <a:latin typeface="Times New Roman"/>
              </a:rPr>
              <a:t>Architecture-agnostic in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60520"/>
            <a:ext cx="5074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VLMs on rich foundation encoders may show the same crowd-out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4983480"/>
            <a:ext cx="54864" cy="7772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983480"/>
            <a:ext cx="5074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B03229"/>
                </a:solidFill>
                <a:latin typeface="Times New Roman"/>
              </a:rPr>
              <a:t>Methodology 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303520"/>
            <a:ext cx="5074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Times New Roman"/>
              </a:rPr>
              <a:t>linear / lag-k / place-cell lens → cog-neuro tools for deep RL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8368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Times New Roman"/>
              </a:rPr>
              <a:t>CS-503  ·  Progress Report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58368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  <a:latin typeface="Times New Roman"/>
              </a:rPr>
              <a:t>Open issues  ·  Implications    ·   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